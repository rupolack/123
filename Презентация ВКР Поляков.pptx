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3" r:id="rId2"/>
    <p:sldId id="446" r:id="rId3"/>
    <p:sldId id="447" r:id="rId4"/>
    <p:sldId id="453" r:id="rId5"/>
    <p:sldId id="455" r:id="rId6"/>
    <p:sldId id="456" r:id="rId7"/>
    <p:sldId id="454" r:id="rId8"/>
    <p:sldId id="457" r:id="rId9"/>
    <p:sldId id="458" r:id="rId10"/>
    <p:sldId id="459" r:id="rId11"/>
    <p:sldId id="460" r:id="rId12"/>
    <p:sldId id="461" r:id="rId13"/>
    <p:sldId id="462" r:id="rId14"/>
    <p:sldId id="464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7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6E2665-B86F-32B3-2F3D-C943AEC287F4}" v="56" dt="2026-05-30T13:38:36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70" d="100"/>
          <a:sy n="70" d="100"/>
        </p:scale>
        <p:origin x="13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5200508"/>
            <a:ext cx="9152049" cy="1657492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Содержимое 2"/>
          <p:cNvSpPr txBox="1">
            <a:spLocks/>
          </p:cNvSpPr>
          <p:nvPr/>
        </p:nvSpPr>
        <p:spPr>
          <a:xfrm>
            <a:off x="-1157561" y="-3409"/>
            <a:ext cx="8813613" cy="1636804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 algn="ctr">
              <a:buClr>
                <a:srgbClr val="4F81BD"/>
              </a:buClr>
              <a:buSzPct val="80000"/>
              <a:defRPr/>
            </a:pPr>
            <a:r>
              <a:rPr lang="ru-RU" sz="28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8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</a:t>
            </a:r>
            <a:r>
              <a:rPr lang="ru-RU" sz="28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0B63588A-6EF5-4F30-AF25-0643BD3E6D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334351"/>
            <a:ext cx="1323231" cy="1293606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AA6A466-4253-4180-A24A-0968CF216C5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7164288" y="188640"/>
            <a:ext cx="2278052" cy="165749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9A976D2-1074-4AD8-971A-30380B4AA374}"/>
              </a:ext>
            </a:extLst>
          </p:cNvPr>
          <p:cNvSpPr txBox="1"/>
          <p:nvPr/>
        </p:nvSpPr>
        <p:spPr>
          <a:xfrm>
            <a:off x="53498" y="2420888"/>
            <a:ext cx="9037004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2800" b="0" i="0" dirty="0">
                <a:solidFill>
                  <a:srgbClr val="4C566A"/>
                </a:solidFill>
                <a:effectLst/>
                <a:latin typeface="Ubuntu-Regular"/>
              </a:rPr>
              <a:t>Разработка информационной</a:t>
            </a:r>
            <a:r>
              <a:rPr lang="ru-RU" sz="2800" dirty="0">
                <a:solidFill>
                  <a:srgbClr val="4C566A"/>
                </a:solidFill>
                <a:latin typeface="Ubuntu-Regular"/>
              </a:rPr>
              <a:t> </a:t>
            </a:r>
            <a:r>
              <a:rPr lang="ru-RU" sz="2800" b="0" i="0" dirty="0">
                <a:solidFill>
                  <a:srgbClr val="4C566A"/>
                </a:solidFill>
                <a:effectLst/>
                <a:latin typeface="Ubuntu-Regular"/>
              </a:rPr>
              <a:t>системы, автоматизирующей </a:t>
            </a:r>
            <a:r>
              <a:rPr lang="ru-RU" sz="2800" dirty="0">
                <a:solidFill>
                  <a:srgbClr val="4C566A"/>
                </a:solidFill>
                <a:latin typeface="Ubuntu-Regular"/>
              </a:rPr>
              <a:t>входное</a:t>
            </a:r>
            <a:r>
              <a:rPr lang="ru-RU" sz="2800" b="0" i="0" dirty="0">
                <a:solidFill>
                  <a:srgbClr val="4C566A"/>
                </a:solidFill>
                <a:effectLst/>
                <a:latin typeface="Ubuntu-Regular"/>
              </a:rPr>
              <a:t> </a:t>
            </a:r>
            <a:r>
              <a:rPr lang="ru-RU" sz="2800" dirty="0">
                <a:solidFill>
                  <a:srgbClr val="4C566A"/>
                </a:solidFill>
                <a:latin typeface="Ubuntu-Regular"/>
              </a:rPr>
              <a:t>тестирование сотрудников для </a:t>
            </a:r>
            <a:r>
              <a:rPr lang="ru-RU" sz="2800" b="0" i="0" dirty="0">
                <a:solidFill>
                  <a:srgbClr val="4C566A"/>
                </a:solidFill>
                <a:effectLst/>
                <a:latin typeface="Ubuntu-Regular"/>
              </a:rPr>
              <a:t>ООО </a:t>
            </a:r>
            <a:r>
              <a:rPr lang="ru-RU" sz="2800" dirty="0">
                <a:solidFill>
                  <a:srgbClr val="4C566A"/>
                </a:solidFill>
                <a:latin typeface="Ubuntu-Regular"/>
              </a:rPr>
              <a:t>«Полимер»</a:t>
            </a:r>
            <a:endParaRPr lang="ru-RU" sz="2800" dirty="0">
              <a:solidFill>
                <a:srgbClr val="004799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3706FE-B410-4088-BCE4-084830EB1D72}"/>
              </a:ext>
            </a:extLst>
          </p:cNvPr>
          <p:cNvSpPr txBox="1"/>
          <p:nvPr/>
        </p:nvSpPr>
        <p:spPr>
          <a:xfrm>
            <a:off x="5544108" y="5380990"/>
            <a:ext cx="3240360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Выполнил: Поляков Н. А.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Научный руководитель: </a:t>
            </a:r>
            <a:r>
              <a:rPr lang="ru-RU">
                <a:solidFill>
                  <a:schemeClr val="bg1"/>
                </a:solidFill>
              </a:rPr>
              <a:t>Егорова М.В.</a:t>
            </a:r>
          </a:p>
        </p:txBody>
      </p:sp>
    </p:spTree>
    <p:extLst>
      <p:ext uri="{BB962C8B-B14F-4D97-AF65-F5344CB8AC3E}">
        <p14:creationId xmlns:p14="http://schemas.microsoft.com/office/powerpoint/2010/main" val="136716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BD39A8A-C255-B643-F31A-3C0D33A5006F}"/>
              </a:ext>
            </a:extLst>
          </p:cNvPr>
          <p:cNvSpPr/>
          <p:nvPr/>
        </p:nvSpPr>
        <p:spPr>
          <a:xfrm>
            <a:off x="4882224" y="2530108"/>
            <a:ext cx="3480806" cy="3267692"/>
          </a:xfrm>
          <a:prstGeom prst="rect">
            <a:avLst/>
          </a:prstGeom>
          <a:solidFill>
            <a:srgbClr val="004799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35075CA-B4A4-D21D-9622-946785C6B9E2}"/>
              </a:ext>
            </a:extLst>
          </p:cNvPr>
          <p:cNvSpPr/>
          <p:nvPr/>
        </p:nvSpPr>
        <p:spPr>
          <a:xfrm>
            <a:off x="776523" y="2530109"/>
            <a:ext cx="3480805" cy="3267691"/>
          </a:xfrm>
          <a:prstGeom prst="rect">
            <a:avLst/>
          </a:prstGeom>
          <a:solidFill>
            <a:srgbClr val="004799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" name="AutoShape 2" descr="Картинки по запросу юриспруденц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/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2D29C0-4406-68A3-F5D4-C9C0C80F0B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D4CF73-8BF0-49D9-9A41-1657E0F1D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0D78A5-99AC-4248-838B-36CAAC012EE2}"/>
              </a:ext>
            </a:extLst>
          </p:cNvPr>
          <p:cNvSpPr txBox="1"/>
          <p:nvPr/>
        </p:nvSpPr>
        <p:spPr>
          <a:xfrm>
            <a:off x="923359" y="1290465"/>
            <a:ext cx="7272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ЦЕЛЬ И ЗАДАЧИ РАБОТЫ</a:t>
            </a:r>
            <a:endParaRPr lang="ru-RU" b="1">
              <a:solidFill>
                <a:schemeClr val="bg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91BBF6A-DDD8-5575-B0B8-626415556CB3}"/>
              </a:ext>
            </a:extLst>
          </p:cNvPr>
          <p:cNvSpPr/>
          <p:nvPr/>
        </p:nvSpPr>
        <p:spPr>
          <a:xfrm>
            <a:off x="903316" y="2906925"/>
            <a:ext cx="3211038" cy="2778334"/>
          </a:xfrm>
          <a:prstGeom prst="rect">
            <a:avLst/>
          </a:prstGeom>
          <a:solidFill>
            <a:schemeClr val="bg1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E585E-90DA-D280-549C-EF18A05CFFF3}"/>
              </a:ext>
            </a:extLst>
          </p:cNvPr>
          <p:cNvSpPr txBox="1"/>
          <p:nvPr/>
        </p:nvSpPr>
        <p:spPr>
          <a:xfrm>
            <a:off x="900294" y="2911744"/>
            <a:ext cx="3211598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Создать корпоративный </a:t>
            </a:r>
            <a:r>
              <a:rPr lang="ru-RU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веб-сайт для автоматизации процесса входного </a:t>
            </a:r>
            <a:r>
              <a:rPr lang="ru-RU"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тестирования работников предприятия «Полимер»</a:t>
            </a:r>
            <a:r>
              <a:rPr lang="ru-RU" sz="2200" dirty="0">
                <a:latin typeface="Calibri"/>
                <a:ea typeface="Calibri"/>
                <a:cs typeface="Calibri"/>
              </a:rPr>
              <a:t> </a:t>
            </a:r>
            <a:endParaRPr lang="ru-RU" sz="22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0282C52-C48C-9155-CFF4-7B09E3C734F6}"/>
              </a:ext>
            </a:extLst>
          </p:cNvPr>
          <p:cNvSpPr/>
          <p:nvPr/>
        </p:nvSpPr>
        <p:spPr>
          <a:xfrm>
            <a:off x="5049819" y="2878799"/>
            <a:ext cx="3185105" cy="2778333"/>
          </a:xfrm>
          <a:prstGeom prst="rect">
            <a:avLst/>
          </a:prstGeom>
          <a:solidFill>
            <a:schemeClr val="bg1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>
              <a:lnSpc>
                <a:spcPts val="2025"/>
              </a:lnSpc>
            </a:pPr>
            <a:r>
              <a:rPr lang="ru-RU" sz="200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1. </a:t>
            </a:r>
            <a:r>
              <a:rPr lang="ru-RU" sz="2000" b="0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Изучить </a:t>
            </a:r>
            <a:r>
              <a:rPr lang="ru-RU" sz="200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и описать предметную</a:t>
            </a:r>
            <a:r>
              <a:rPr lang="ru-RU" sz="2000" b="0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 область</a:t>
            </a:r>
            <a:r>
              <a:rPr lang="ru-RU" sz="20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r>
              <a:rPr lang="ru-RU" sz="200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.</a:t>
            </a:r>
            <a:endParaRPr lang="ru-RU"/>
          </a:p>
          <a:p>
            <a:pPr>
              <a:lnSpc>
                <a:spcPts val="2025"/>
              </a:lnSpc>
            </a:pPr>
            <a:r>
              <a:rPr lang="ru-RU" sz="200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2. </a:t>
            </a:r>
            <a:r>
              <a:rPr lang="ru-RU" sz="2000" b="0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Сформулировать требования к ИС</a:t>
            </a:r>
            <a:r>
              <a:rPr lang="ru-RU" sz="20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r>
              <a:rPr lang="ru-RU" sz="200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.</a:t>
            </a:r>
          </a:p>
          <a:p>
            <a:pPr>
              <a:lnSpc>
                <a:spcPts val="2025"/>
              </a:lnSpc>
            </a:pPr>
            <a:r>
              <a:rPr lang="ru-RU" sz="200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3. Создать  проект </a:t>
            </a:r>
            <a:r>
              <a:rPr lang="ru-RU" sz="2000" b="0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базы </a:t>
            </a:r>
            <a:r>
              <a:rPr lang="ru-RU" sz="2000" b="0" i="0" u="none" strike="noStrike" baseline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данных</a:t>
            </a:r>
            <a:r>
              <a:rPr lang="ru-RU" sz="2000" b="0" i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r>
              <a:rPr lang="ru-RU" sz="200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.</a:t>
            </a:r>
            <a:endParaRPr lang="ru-RU" sz="2000" b="0" i="0" dirty="0">
              <a:solidFill>
                <a:srgbClr val="000000"/>
              </a:solidFill>
              <a:latin typeface="Calibri"/>
              <a:ea typeface="Segoe UI"/>
              <a:cs typeface="Segoe UI"/>
            </a:endParaRPr>
          </a:p>
          <a:p>
            <a:pPr>
              <a:lnSpc>
                <a:spcPts val="2025"/>
              </a:lnSpc>
            </a:pPr>
            <a:r>
              <a:rPr lang="ru-RU" sz="200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4. Разработать</a:t>
            </a:r>
            <a:r>
              <a:rPr lang="ru-RU" sz="2000" b="0" i="0" u="none" strike="noStrike" baseline="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 </a:t>
            </a:r>
            <a:r>
              <a:rPr lang="ru-RU" sz="2000" b="0" i="0" u="none" strike="noStrike" baseline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информационную систем</a:t>
            </a:r>
            <a:r>
              <a:rPr lang="ru-RU" sz="200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.</a:t>
            </a:r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B1627C3-A282-80A3-3C30-DF0CB2C097F8}"/>
              </a:ext>
            </a:extLst>
          </p:cNvPr>
          <p:cNvSpPr/>
          <p:nvPr/>
        </p:nvSpPr>
        <p:spPr>
          <a:xfrm>
            <a:off x="776523" y="2530108"/>
            <a:ext cx="3378447" cy="35617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Цель</a:t>
            </a:r>
            <a:endParaRPr lang="ru-RU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9407B98-CD36-BFEC-D05F-466C20E897CB}"/>
              </a:ext>
            </a:extLst>
          </p:cNvPr>
          <p:cNvSpPr/>
          <p:nvPr/>
        </p:nvSpPr>
        <p:spPr>
          <a:xfrm>
            <a:off x="4879074" y="2524836"/>
            <a:ext cx="3377820" cy="3639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/>
              <a:t>Задачи</a:t>
            </a:r>
          </a:p>
        </p:txBody>
      </p:sp>
    </p:spTree>
    <p:extLst>
      <p:ext uri="{BB962C8B-B14F-4D97-AF65-F5344CB8AC3E}">
        <p14:creationId xmlns:p14="http://schemas.microsoft.com/office/powerpoint/2010/main" val="27179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676F8-6ADC-7273-02F1-9E39056F3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5176866-9A6C-2745-AE7E-3539C08085A8}"/>
              </a:ext>
            </a:extLst>
          </p:cNvPr>
          <p:cNvSpPr/>
          <p:nvPr/>
        </p:nvSpPr>
        <p:spPr>
          <a:xfrm>
            <a:off x="295702" y="2399731"/>
            <a:ext cx="8563968" cy="3628028"/>
          </a:xfrm>
          <a:prstGeom prst="rect">
            <a:avLst/>
          </a:prstGeom>
          <a:solidFill>
            <a:srgbClr val="004799"/>
          </a:solidFill>
          <a:ln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6B4F488-C661-C270-BED1-69998D722DD4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149FC349-D2A1-2979-EB8A-A9D918C38D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6F3BC5C3-87BB-0797-A559-04424F1F0565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2CC6DC6-EF53-90FC-4734-00639AB8C55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57CFCDE-0750-353C-53DB-9CDEEB34F6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1B4B93-4638-2334-D506-1194BC58C9EC}"/>
              </a:ext>
            </a:extLst>
          </p:cNvPr>
          <p:cNvSpPr txBox="1"/>
          <p:nvPr/>
        </p:nvSpPr>
        <p:spPr>
          <a:xfrm>
            <a:off x="923359" y="1290465"/>
            <a:ext cx="7272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АКТУАЛЬНОСТЬ ТЕМЫ</a:t>
            </a:r>
            <a:endParaRPr lang="ru-RU" b="1">
              <a:solidFill>
                <a:schemeClr val="bg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D3B250F-3D44-BAC9-3E7D-EEBB54651734}"/>
              </a:ext>
            </a:extLst>
          </p:cNvPr>
          <p:cNvSpPr/>
          <p:nvPr/>
        </p:nvSpPr>
        <p:spPr>
          <a:xfrm>
            <a:off x="643831" y="3497674"/>
            <a:ext cx="7955818" cy="2376424"/>
          </a:xfrm>
          <a:prstGeom prst="rect">
            <a:avLst/>
          </a:prstGeom>
          <a:solidFill>
            <a:schemeClr val="bg1"/>
          </a:solidFill>
          <a:ln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3E14C-7241-BC94-2D6F-0B0213573FB0}"/>
              </a:ext>
            </a:extLst>
          </p:cNvPr>
          <p:cNvSpPr txBox="1"/>
          <p:nvPr/>
        </p:nvSpPr>
        <p:spPr>
          <a:xfrm>
            <a:off x="643832" y="3494552"/>
            <a:ext cx="795938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ru-RU">
                <a:latin typeface="Calibri"/>
                <a:ea typeface="Calibri"/>
                <a:cs typeface="Calibri"/>
              </a:rPr>
              <a:t>Необъективность: оценки могут зависеть от личного мнения проверяющего, а не от реальных знаний.  </a:t>
            </a:r>
            <a:endParaRPr lang="ru-RU" dirty="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ru-RU">
                <a:latin typeface="Calibri"/>
                <a:ea typeface="Calibri"/>
                <a:cs typeface="Calibri"/>
              </a:rPr>
              <a:t>Долгая проверка: сотрудники тратят много времени на ручную проверку и подсчет результатов.  </a:t>
            </a:r>
          </a:p>
          <a:p>
            <a:pPr marL="342900" indent="-342900">
              <a:buAutoNum type="arabicPeriod"/>
            </a:pPr>
            <a:r>
              <a:rPr lang="ru-RU">
                <a:latin typeface="Calibri"/>
                <a:ea typeface="Calibri"/>
                <a:cs typeface="Calibri"/>
              </a:rPr>
              <a:t>Сложность анализа: трудно собрать статистику по предприятию, так как данные разрознены и обрабатываются вручную.  </a:t>
            </a:r>
          </a:p>
          <a:p>
            <a:pPr marL="342900" indent="-342900">
              <a:buAutoNum type="arabicPeriod"/>
            </a:pPr>
            <a:r>
              <a:rPr lang="ru-RU">
                <a:latin typeface="Calibri"/>
                <a:ea typeface="Calibri"/>
                <a:cs typeface="Calibri"/>
              </a:rPr>
              <a:t>Ошибки: при ручной проверке могут возникать неточности, искажающие реальную картину.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041F8E1-46ED-B4A8-A855-9A3EA55EB50E}"/>
              </a:ext>
            </a:extLst>
          </p:cNvPr>
          <p:cNvSpPr/>
          <p:nvPr/>
        </p:nvSpPr>
        <p:spPr>
          <a:xfrm>
            <a:off x="632459" y="2576452"/>
            <a:ext cx="7967192" cy="693199"/>
          </a:xfrm>
          <a:prstGeom prst="rect">
            <a:avLst/>
          </a:prstGeom>
          <a:solidFill>
            <a:schemeClr val="bg1"/>
          </a:solidFill>
          <a:ln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D7DA7E-70DE-CE1F-F5B7-351FF1366722}"/>
              </a:ext>
            </a:extLst>
          </p:cNvPr>
          <p:cNvSpPr txBox="1"/>
          <p:nvPr/>
        </p:nvSpPr>
        <p:spPr>
          <a:xfrm>
            <a:off x="749064" y="2576453"/>
            <a:ext cx="770411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На текущий момент на предприятии "OOO «Полимер»" отсутствует единая централизованная система контроля знаний, что приводит к:</a:t>
            </a:r>
            <a:endParaRPr lang="ru-RU">
              <a:latin typeface="Calibri"/>
              <a:ea typeface="Calibri"/>
              <a:cs typeface="Calibri"/>
            </a:endParaRPr>
          </a:p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1264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CE87-B945-2E5A-E037-DB01EAE83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686040D-26BB-76B8-23E4-21D2ED1CE583}"/>
              </a:ext>
            </a:extLst>
          </p:cNvPr>
          <p:cNvSpPr/>
          <p:nvPr/>
        </p:nvSpPr>
        <p:spPr>
          <a:xfrm>
            <a:off x="450952" y="4603953"/>
            <a:ext cx="8393998" cy="1527606"/>
          </a:xfrm>
          <a:prstGeom prst="rect">
            <a:avLst/>
          </a:prstGeom>
          <a:solidFill>
            <a:srgbClr val="004799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F949D2-B313-DE32-5090-B2316C569C68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E62E5A5E-6FBA-F949-555A-9DB2CE5C7D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D364D1EA-BA60-93A7-DECB-F8B967664BEC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28BF8D-BD2C-5931-37EF-5A42CDF25E1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40DCDC-6205-537D-1614-4A73C6824A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BA569A1-C642-691B-DBDD-5A5482879B79}"/>
              </a:ext>
            </a:extLst>
          </p:cNvPr>
          <p:cNvSpPr txBox="1"/>
          <p:nvPr/>
        </p:nvSpPr>
        <p:spPr>
          <a:xfrm>
            <a:off x="923359" y="1290465"/>
            <a:ext cx="7272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ФУНКЦИОНАЛЬНЫЕ И НЕФУНКЦИОНАЛЬНЫЕ ТРЕБОВАНИЯ</a:t>
            </a:r>
            <a:endParaRPr lang="ru-RU" b="1">
              <a:solidFill>
                <a:schemeClr val="bg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4E71B47-1557-91FE-E0D9-3573ED33808E}"/>
              </a:ext>
            </a:extLst>
          </p:cNvPr>
          <p:cNvSpPr/>
          <p:nvPr/>
        </p:nvSpPr>
        <p:spPr>
          <a:xfrm>
            <a:off x="450952" y="1999508"/>
            <a:ext cx="8393998" cy="2096260"/>
          </a:xfrm>
          <a:prstGeom prst="rect">
            <a:avLst/>
          </a:prstGeom>
          <a:solidFill>
            <a:srgbClr val="004799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E47ED8B-49DD-1E44-F488-3200265040CE}"/>
              </a:ext>
            </a:extLst>
          </p:cNvPr>
          <p:cNvSpPr/>
          <p:nvPr/>
        </p:nvSpPr>
        <p:spPr>
          <a:xfrm>
            <a:off x="577744" y="2319458"/>
            <a:ext cx="8124231" cy="1641020"/>
          </a:xfrm>
          <a:prstGeom prst="rect">
            <a:avLst/>
          </a:prstGeom>
          <a:solidFill>
            <a:schemeClr val="bg1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>
                <a:latin typeface="Calibri"/>
                <a:ea typeface="Calibri"/>
                <a:cs typeface="Calibri"/>
              </a:rPr>
              <a:t>пп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995E829-0266-93AB-E86F-9AA113EB1144}"/>
              </a:ext>
            </a:extLst>
          </p:cNvPr>
          <p:cNvSpPr/>
          <p:nvPr/>
        </p:nvSpPr>
        <p:spPr>
          <a:xfrm>
            <a:off x="597116" y="4944277"/>
            <a:ext cx="8102360" cy="1057926"/>
          </a:xfrm>
          <a:prstGeom prst="rect">
            <a:avLst/>
          </a:prstGeom>
          <a:solidFill>
            <a:schemeClr val="bg1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lnSpc>
                <a:spcPts val="2175"/>
              </a:lnSpc>
              <a:buFont typeface="Calibri"/>
              <a:buChar char="-"/>
            </a:pPr>
            <a:endParaRPr lang="ru-RU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2A79C4B-4613-C49E-765F-44492E78128F}"/>
              </a:ext>
            </a:extLst>
          </p:cNvPr>
          <p:cNvSpPr/>
          <p:nvPr/>
        </p:nvSpPr>
        <p:spPr>
          <a:xfrm>
            <a:off x="553309" y="2090493"/>
            <a:ext cx="8041432" cy="140081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Функциональные требования</a:t>
            </a:r>
            <a:endParaRPr lang="ru-RU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0CFDC54-D02F-CF16-2CF3-FA79E806FA4F}"/>
              </a:ext>
            </a:extLst>
          </p:cNvPr>
          <p:cNvSpPr/>
          <p:nvPr/>
        </p:nvSpPr>
        <p:spPr>
          <a:xfrm>
            <a:off x="777622" y="4598684"/>
            <a:ext cx="7426657" cy="3411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b="1">
                <a:latin typeface="Calibri"/>
                <a:ea typeface="Calibri"/>
                <a:cs typeface="Calibri"/>
              </a:rPr>
              <a:t>Нефункциональные требования </a:t>
            </a:r>
            <a:endParaRPr lang="ru-RU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576253-237D-FBB9-E744-ADEB496CB8F3}"/>
              </a:ext>
            </a:extLst>
          </p:cNvPr>
          <p:cNvSpPr txBox="1"/>
          <p:nvPr/>
        </p:nvSpPr>
        <p:spPr>
          <a:xfrm>
            <a:off x="575405" y="2406167"/>
            <a:ext cx="804767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ru-RU">
                <a:ea typeface="+mn-lt"/>
                <a:cs typeface="+mn-lt"/>
              </a:rPr>
              <a:t>Возможность просмотра вопросов для подготовки;  </a:t>
            </a:r>
            <a:endParaRPr lang="ru-RU"/>
          </a:p>
          <a:p>
            <a:pPr marL="285750" indent="-285750">
              <a:buFont typeface="Calibri"/>
              <a:buChar char="-"/>
            </a:pPr>
            <a:r>
              <a:rPr lang="ru-RU">
                <a:ea typeface="+mn-lt"/>
                <a:cs typeface="+mn-lt"/>
              </a:rPr>
              <a:t>Корректное отображение вопросов;  </a:t>
            </a:r>
            <a:endParaRPr lang="ru-RU"/>
          </a:p>
          <a:p>
            <a:pPr marL="285750" indent="-285750">
              <a:buFont typeface="Calibri"/>
              <a:buChar char="-"/>
            </a:pPr>
            <a:r>
              <a:rPr lang="ru-RU">
                <a:ea typeface="+mn-lt"/>
                <a:cs typeface="+mn-lt"/>
              </a:rPr>
              <a:t>Защищённое хранение данных сотрудников;  </a:t>
            </a:r>
            <a:endParaRPr lang="ru-RU"/>
          </a:p>
          <a:p>
            <a:pPr marL="285750" indent="-285750">
              <a:buFont typeface="Calibri"/>
              <a:buChar char="-"/>
            </a:pPr>
            <a:r>
              <a:rPr lang="ru-RU">
                <a:ea typeface="+mn-lt"/>
                <a:cs typeface="+mn-lt"/>
              </a:rPr>
              <a:t>Отображение результата теста в процентах, количества правильных ответов и категория "Сдал"/"Не сдал ". </a:t>
            </a:r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D1FD32-9065-611B-4A90-DEB01F5F2291}"/>
              </a:ext>
            </a:extLst>
          </p:cNvPr>
          <p:cNvSpPr txBox="1"/>
          <p:nvPr/>
        </p:nvSpPr>
        <p:spPr>
          <a:xfrm>
            <a:off x="602776" y="5140656"/>
            <a:ext cx="3457431" cy="6469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2175"/>
              </a:lnSpc>
              <a:buFont typeface="Calibri"/>
              <a:buChar char="-"/>
            </a:pPr>
            <a:r>
              <a:rPr lang="ru-RU">
                <a:latin typeface="Calibri"/>
                <a:ea typeface="Calibri"/>
                <a:cs typeface="Calibri"/>
              </a:rPr>
              <a:t>Производительность;</a:t>
            </a:r>
          </a:p>
          <a:p>
            <a:pPr marL="285750" indent="-285750">
              <a:lnSpc>
                <a:spcPts val="2175"/>
              </a:lnSpc>
              <a:buFont typeface="Calibri"/>
              <a:buChar char="-"/>
            </a:pPr>
            <a:r>
              <a:rPr lang="ru-RU">
                <a:latin typeface="Calibri"/>
                <a:ea typeface="Calibri"/>
                <a:cs typeface="Calibri"/>
              </a:rPr>
              <a:t>Безопасность;</a:t>
            </a:r>
            <a:endParaRPr lang="ru-RU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93378-FA43-40C5-76C3-659952C9FF21}"/>
              </a:ext>
            </a:extLst>
          </p:cNvPr>
          <p:cNvSpPr txBox="1"/>
          <p:nvPr/>
        </p:nvSpPr>
        <p:spPr>
          <a:xfrm>
            <a:off x="4652201" y="5139476"/>
            <a:ext cx="390119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ru-RU">
                <a:latin typeface="Calibri"/>
                <a:ea typeface="Calibri"/>
                <a:cs typeface="Calibri"/>
              </a:rPr>
              <a:t>Масштабируемость.</a:t>
            </a:r>
            <a:endParaRPr lang="ru-RU" dirty="0">
              <a:latin typeface="Calibri"/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r>
              <a:rPr lang="ru-RU">
                <a:ea typeface="+mn-lt"/>
                <a:cs typeface="+mn-lt"/>
              </a:rPr>
              <a:t>Адаптивный интерфейс</a:t>
            </a:r>
            <a:endParaRPr lang="ru-RU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59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E2191-4E5C-0733-01C4-41308FA31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6CB032A-5BF1-27C2-2E30-C7DBC5BF88C5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F3720588-3A6A-F312-97BA-D615F5409D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8FDBDF47-CC11-251B-569E-D39AAF838B25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EF676F-AC86-D123-7F28-8232A6EBA2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54BFFB5-069C-2F0B-5EBF-F7399902A4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3A2F18-E410-2FC9-6967-4F01D09F1BD6}"/>
              </a:ext>
            </a:extLst>
          </p:cNvPr>
          <p:cNvSpPr txBox="1"/>
          <p:nvPr/>
        </p:nvSpPr>
        <p:spPr>
          <a:xfrm>
            <a:off x="923359" y="1290465"/>
            <a:ext cx="7272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ea typeface="+mn-lt"/>
                <a:cs typeface="+mn-lt"/>
              </a:rPr>
              <a:t>ER-диаграмма предметной области</a:t>
            </a:r>
            <a:endParaRPr lang="ru-RU" b="1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FB13D-204C-F4B8-8493-DA23023D2DB3}"/>
              </a:ext>
            </a:extLst>
          </p:cNvPr>
          <p:cNvSpPr txBox="1"/>
          <p:nvPr/>
        </p:nvSpPr>
        <p:spPr>
          <a:xfrm>
            <a:off x="1876567" y="6164238"/>
            <a:ext cx="53931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>
                <a:solidFill>
                  <a:srgbClr val="000000"/>
                </a:solidFill>
              </a:rPr>
              <a:t>Рисунок 1 - ER-диаграмма предметной области</a:t>
            </a:r>
          </a:p>
        </p:txBody>
      </p:sp>
      <p:pic>
        <p:nvPicPr>
          <p:cNvPr id="4" name="Рисунок 3" descr="Изображение выглядит как диаграмма, текст, круг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4BC4366-BAAC-16C0-7C4A-FFA3FD64D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695" y="2149522"/>
            <a:ext cx="5051235" cy="361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7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65108-2285-F875-2673-0BD6160F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9CA0701-AD83-2994-61C6-1979CDA28605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8DB644A8-F4E1-E0DE-A0B3-4C1359243A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1A2D3B2F-5AB2-5B49-3C07-AD276137EFD2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6FF2F7-45CB-9063-8D43-E6646184F57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87CF53-4863-6E17-D14E-6C58BC513D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2AAA83-F6D4-C9B9-E481-916F667F9C65}"/>
              </a:ext>
            </a:extLst>
          </p:cNvPr>
          <p:cNvSpPr txBox="1"/>
          <p:nvPr/>
        </p:nvSpPr>
        <p:spPr>
          <a:xfrm>
            <a:off x="923359" y="1290465"/>
            <a:ext cx="7272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ER-</a:t>
            </a:r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диаграмма структуры хранения данных</a:t>
            </a:r>
            <a:endParaRPr lang="ru-RU" b="1">
              <a:solidFill>
                <a:schemeClr val="bg1"/>
              </a:solidFill>
            </a:endParaRPr>
          </a:p>
        </p:txBody>
      </p:sp>
      <p:pic>
        <p:nvPicPr>
          <p:cNvPr id="3" name="Рисунок 2" descr="Изображение выглядит как текст, диаграмма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0CAA6A-CC00-8534-D0BD-8C86FB3AB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384" y="2255221"/>
            <a:ext cx="5191978" cy="36668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1D4D45-4A85-E60D-55B9-2CA6AD0B4AC9}"/>
              </a:ext>
            </a:extLst>
          </p:cNvPr>
          <p:cNvSpPr txBox="1"/>
          <p:nvPr/>
        </p:nvSpPr>
        <p:spPr>
          <a:xfrm>
            <a:off x="1660478" y="6044821"/>
            <a:ext cx="59367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800" b="0" i="0" u="none" strike="noStrike" baseline="0">
                <a:solidFill>
                  <a:srgbClr val="000000"/>
                </a:solidFill>
                <a:latin typeface="Aptos"/>
              </a:rPr>
              <a:t>Рисунок </a:t>
            </a:r>
            <a:r>
              <a:rPr lang="ru-RU">
                <a:solidFill>
                  <a:srgbClr val="000000"/>
                </a:solidFill>
                <a:latin typeface="Aptos"/>
              </a:rPr>
              <a:t> 2 - </a:t>
            </a:r>
            <a:r>
              <a:rPr lang="ru-RU">
                <a:solidFill>
                  <a:srgbClr val="000000"/>
                </a:solidFill>
                <a:ea typeface="+mn-lt"/>
                <a:cs typeface="+mn-lt"/>
              </a:rPr>
              <a:t>ER-диаграмма структуры хранения данных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69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35261-F4C6-C186-9EE5-EFF8AFCDF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F713463-4924-491B-80A9-0DC293AEA0B5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226CB89F-183F-1F0A-9A11-31AA4BB8F5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14712E29-FC6B-DD75-8221-CC30F5A875B1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5EE923E-B063-69A9-2EB1-A68A97448F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19CD69-38E4-4A1C-D0E9-90894E96ED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5440ABA-4FFC-D7D1-A922-17A1ACCE8F78}"/>
              </a:ext>
            </a:extLst>
          </p:cNvPr>
          <p:cNvSpPr txBox="1"/>
          <p:nvPr/>
        </p:nvSpPr>
        <p:spPr>
          <a:xfrm>
            <a:off x="923359" y="1290465"/>
            <a:ext cx="7272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ea typeface="+mn-lt"/>
                <a:cs typeface="+mn-lt"/>
              </a:rPr>
              <a:t>Технологический стек</a:t>
            </a:r>
            <a:endParaRPr lang="ru-RU" b="1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8C78D4-E8B0-46BB-A426-71797F0177D1}"/>
              </a:ext>
            </a:extLst>
          </p:cNvPr>
          <p:cNvSpPr/>
          <p:nvPr/>
        </p:nvSpPr>
        <p:spPr>
          <a:xfrm>
            <a:off x="501731" y="2324869"/>
            <a:ext cx="8145289" cy="3536420"/>
          </a:xfrm>
          <a:prstGeom prst="rect">
            <a:avLst/>
          </a:prstGeom>
          <a:solidFill>
            <a:srgbClr val="004799"/>
          </a:solidFill>
          <a:ln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E0486BD-35D6-CBC6-2D49-9F44F824D61A}"/>
              </a:ext>
            </a:extLst>
          </p:cNvPr>
          <p:cNvSpPr/>
          <p:nvPr/>
        </p:nvSpPr>
        <p:spPr>
          <a:xfrm>
            <a:off x="724256" y="2548581"/>
            <a:ext cx="7708047" cy="904351"/>
          </a:xfrm>
          <a:prstGeom prst="rect">
            <a:avLst/>
          </a:prstGeom>
          <a:solidFill>
            <a:schemeClr val="bg1"/>
          </a:solidFill>
          <a:ln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784AB8F-EBF2-B359-768C-84BE9A561EE5}"/>
              </a:ext>
            </a:extLst>
          </p:cNvPr>
          <p:cNvSpPr/>
          <p:nvPr/>
        </p:nvSpPr>
        <p:spPr>
          <a:xfrm>
            <a:off x="738003" y="3642526"/>
            <a:ext cx="7685301" cy="904351"/>
          </a:xfrm>
          <a:prstGeom prst="rect">
            <a:avLst/>
          </a:prstGeom>
          <a:solidFill>
            <a:schemeClr val="bg1"/>
          </a:solidFill>
          <a:ln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C241B83-4C4A-9001-6036-604CF6734A3D}"/>
              </a:ext>
            </a:extLst>
          </p:cNvPr>
          <p:cNvSpPr/>
          <p:nvPr/>
        </p:nvSpPr>
        <p:spPr>
          <a:xfrm>
            <a:off x="738003" y="4772965"/>
            <a:ext cx="7696674" cy="904351"/>
          </a:xfrm>
          <a:prstGeom prst="rect">
            <a:avLst/>
          </a:prstGeom>
          <a:solidFill>
            <a:schemeClr val="bg1"/>
          </a:solidFill>
          <a:ln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DB9A4-F716-B5A5-EA7C-5549396D3C5A}"/>
              </a:ext>
            </a:extLst>
          </p:cNvPr>
          <p:cNvSpPr txBox="1"/>
          <p:nvPr/>
        </p:nvSpPr>
        <p:spPr>
          <a:xfrm>
            <a:off x="736816" y="2586263"/>
            <a:ext cx="76326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>
                <a:latin typeface="Calibri"/>
                <a:ea typeface="Calibri"/>
                <a:cs typeface="Calibri"/>
              </a:rPr>
              <a:t>PHP </a:t>
            </a:r>
          </a:p>
          <a:p>
            <a:r>
              <a:rPr lang="ru-RU">
                <a:latin typeface="Calibri"/>
                <a:ea typeface="Calibri"/>
                <a:cs typeface="Calibri"/>
              </a:rPr>
              <a:t>Серверная логика: маршрутизация, сессии, обработка тестов.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CA284-0AC7-58D2-879D-24931F3C772C}"/>
              </a:ext>
            </a:extLst>
          </p:cNvPr>
          <p:cNvSpPr txBox="1"/>
          <p:nvPr/>
        </p:nvSpPr>
        <p:spPr>
          <a:xfrm>
            <a:off x="738004" y="3655087"/>
            <a:ext cx="76476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>
                <a:latin typeface="Calibri"/>
                <a:ea typeface="Calibri"/>
                <a:cs typeface="Calibri"/>
              </a:rPr>
              <a:t>PostgreSQL</a:t>
            </a:r>
          </a:p>
          <a:p>
            <a:r>
              <a:rPr lang="ru-RU">
                <a:latin typeface="Calibri"/>
                <a:ea typeface="Calibri"/>
                <a:cs typeface="Calibri"/>
              </a:rPr>
              <a:t>Реляционная СУБД: хранение вопросов, ответов, результатов.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D15A4E-72A0-F85D-D27A-77C9037D3CAE}"/>
              </a:ext>
            </a:extLst>
          </p:cNvPr>
          <p:cNvSpPr txBox="1"/>
          <p:nvPr/>
        </p:nvSpPr>
        <p:spPr>
          <a:xfrm>
            <a:off x="775685" y="4823208"/>
            <a:ext cx="75836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>
                <a:latin typeface="Calibri"/>
                <a:ea typeface="Calibri"/>
                <a:cs typeface="Calibri"/>
              </a:rPr>
              <a:t>HTML / CSS </a:t>
            </a:r>
          </a:p>
          <a:p>
            <a:r>
              <a:rPr lang="ru-RU">
                <a:latin typeface="Calibri"/>
                <a:ea typeface="Calibri"/>
                <a:cs typeface="Calibri"/>
              </a:rPr>
              <a:t>Адаптивный интерфейс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49205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EB8EF-1DCD-E8AF-C991-D896F666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35B7E75-4163-7151-4D1A-D371F09884F1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DEFFC9C6-4475-DC25-1708-270B53F6A2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C0CA7979-DEC7-4BF5-EBF2-FC0542845E47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E131F9-AEFF-136E-3B7E-66A36A9B19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837F0F2-B197-6A47-D399-3149A6CDE8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A31735-D9DF-FDC0-2779-71F151CE3D8A}"/>
              </a:ext>
            </a:extLst>
          </p:cNvPr>
          <p:cNvSpPr txBox="1"/>
          <p:nvPr/>
        </p:nvSpPr>
        <p:spPr>
          <a:xfrm>
            <a:off x="923359" y="1290465"/>
            <a:ext cx="7272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РЕАЛИЗАЦИЯ ИНФОРМАЦИОННОЙ СИСТЕМЫ: ГЛАВНАЯ СТРАНИЦА</a:t>
            </a:r>
          </a:p>
        </p:txBody>
      </p:sp>
      <p:pic>
        <p:nvPicPr>
          <p:cNvPr id="3" name="Рисунок 2" descr="Изображение выглядит как текст, снимок экрана, Шрифт, Цвет электр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A9E4D2-9C09-545F-4930-011A1FB30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5231" y="2191289"/>
            <a:ext cx="6353536" cy="3133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7AAB55-725D-7351-4CF4-E77AFD58867C}"/>
              </a:ext>
            </a:extLst>
          </p:cNvPr>
          <p:cNvSpPr txBox="1"/>
          <p:nvPr/>
        </p:nvSpPr>
        <p:spPr>
          <a:xfrm>
            <a:off x="1603612" y="5555776"/>
            <a:ext cx="59367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800" b="0" i="0" u="none" strike="noStrike" baseline="0">
                <a:solidFill>
                  <a:srgbClr val="000000"/>
                </a:solidFill>
                <a:latin typeface="Aptos"/>
              </a:rPr>
              <a:t>Рисунок </a:t>
            </a:r>
            <a:r>
              <a:rPr lang="ru-RU">
                <a:solidFill>
                  <a:srgbClr val="000000"/>
                </a:solidFill>
                <a:latin typeface="Aptos"/>
              </a:rPr>
              <a:t> 3 - Главная страница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181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049E5-6E47-C801-A543-F1ECD408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598807-0D4D-BF87-CD8B-B7A4CB833D68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9353A117-1E35-EE79-00DD-9936215FE5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25CDDE08-E39A-F9F1-FBF2-C514EDB25BC5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E357A0A-1FC1-BDE3-1E67-9981D1DF86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61B0C9-764B-45E4-3D78-E1E617713E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D9CD2C-C9F8-6909-873C-AD02993E6D40}"/>
              </a:ext>
            </a:extLst>
          </p:cNvPr>
          <p:cNvSpPr txBox="1"/>
          <p:nvPr/>
        </p:nvSpPr>
        <p:spPr>
          <a:xfrm>
            <a:off x="-3979" y="1290465"/>
            <a:ext cx="915983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РЕАЛИЗАЦИЯ ИНФОРМАЦИОННОЙ СИСТЕМЫ: СТРАНИЦА ВОПРОСОВ ДЛЯ ПОДГОТОВКИ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3" name="Рисунок 2" descr="Изображение выглядит как текст, электроник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DC02D1-B95D-2974-62D3-4446FBBF1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5715" y="1873295"/>
            <a:ext cx="4405711" cy="3927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F97420-031A-9FFA-CE82-674210D6527A}"/>
              </a:ext>
            </a:extLst>
          </p:cNvPr>
          <p:cNvSpPr txBox="1"/>
          <p:nvPr/>
        </p:nvSpPr>
        <p:spPr>
          <a:xfrm>
            <a:off x="1603612" y="6067568"/>
            <a:ext cx="59367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800" b="0" i="0" u="none" strike="noStrike" baseline="0">
                <a:solidFill>
                  <a:srgbClr val="000000"/>
                </a:solidFill>
                <a:latin typeface="Aptos"/>
              </a:rPr>
              <a:t>Рисунок </a:t>
            </a:r>
            <a:r>
              <a:rPr lang="ru-RU">
                <a:solidFill>
                  <a:srgbClr val="000000"/>
                </a:solidFill>
                <a:latin typeface="Aptos"/>
              </a:rPr>
              <a:t> 4 - Страница вопросов для подготовки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33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E59E-98AB-503A-7A32-AEAECCBC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DB0962-5DB8-329F-DB69-3462B1C81598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42AFA62F-F2AF-AFAC-07E2-0C76C282D0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29FED715-BD18-AAF0-BD04-0025689074E3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3BF7CFB-922B-30C6-D56A-6FA38CBC09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D1E26A4-B2CF-222E-6124-1B1F2411E4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8486F7-3909-8083-3596-85CE03DA7263}"/>
              </a:ext>
            </a:extLst>
          </p:cNvPr>
          <p:cNvSpPr txBox="1"/>
          <p:nvPr/>
        </p:nvSpPr>
        <p:spPr>
          <a:xfrm>
            <a:off x="-3980" y="1290465"/>
            <a:ext cx="915983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РЕАЛИЗАЦИЯ ИНФОРМАЦИОННОЙ СИСТЕМЫ: НАЧАЛО ТЕСТИРОВАНИЯ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31CF38-9810-B624-5B8B-811DAD8F5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578" y="1918843"/>
            <a:ext cx="6821038" cy="3827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1D9272-580F-B302-5E01-C067A7E99594}"/>
              </a:ext>
            </a:extLst>
          </p:cNvPr>
          <p:cNvSpPr txBox="1"/>
          <p:nvPr/>
        </p:nvSpPr>
        <p:spPr>
          <a:xfrm>
            <a:off x="1660478" y="6044821"/>
            <a:ext cx="59367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800" b="0" i="0" u="none" strike="noStrike" baseline="0">
                <a:solidFill>
                  <a:srgbClr val="000000"/>
                </a:solidFill>
                <a:latin typeface="Aptos"/>
              </a:rPr>
              <a:t>Рисунок </a:t>
            </a:r>
            <a:r>
              <a:rPr lang="ru-RU">
                <a:solidFill>
                  <a:srgbClr val="000000"/>
                </a:solidFill>
                <a:latin typeface="Aptos"/>
              </a:rPr>
              <a:t> 5 - Начало тестирования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10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3135-5B89-8168-149E-5E66967D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B4F1B38-2060-F5A7-E1DB-B8EAFAB875D5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1B9CA956-78F5-D485-671B-16B5E6676F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C42FC4B8-268A-80A1-5C70-839ABB2D6BAE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9E7D83-79A7-4122-3D9A-A5A7A4B158D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6BB1D4C-F3BF-0E3F-E5BA-901BE851A1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1A9600-0EE4-C934-87E6-67DCB0DB43AF}"/>
              </a:ext>
            </a:extLst>
          </p:cNvPr>
          <p:cNvSpPr txBox="1"/>
          <p:nvPr/>
        </p:nvSpPr>
        <p:spPr>
          <a:xfrm>
            <a:off x="-14763" y="1290465"/>
            <a:ext cx="915983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РЕАЛИЗАЦИЯ ИНФОРМАЦИОННОЙ СИСТЕМЫ: СТРАНИЦА ТЕСТИРОВАНИЯ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3" name="Рисунок 2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0958CF-4D46-7891-D255-7877D67A9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3552" y="1864443"/>
            <a:ext cx="4241599" cy="39813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1A6861-569C-89AA-4586-02EB7841BA84}"/>
              </a:ext>
            </a:extLst>
          </p:cNvPr>
          <p:cNvSpPr txBox="1"/>
          <p:nvPr/>
        </p:nvSpPr>
        <p:spPr>
          <a:xfrm>
            <a:off x="1660478" y="6044821"/>
            <a:ext cx="59367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800" b="0" i="0" u="none" strike="noStrike" baseline="0">
                <a:solidFill>
                  <a:srgbClr val="000000"/>
                </a:solidFill>
                <a:latin typeface="Aptos"/>
              </a:rPr>
              <a:t>Рисунок </a:t>
            </a:r>
            <a:r>
              <a:rPr lang="ru-RU">
                <a:solidFill>
                  <a:srgbClr val="000000"/>
                </a:solidFill>
                <a:latin typeface="Aptos"/>
              </a:rPr>
              <a:t> 6 - Страница тестирования 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28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5D48-3F1B-4A7C-FE79-BD4921E9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34413AB-ECB7-DEE3-6E98-4049285F3283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232842BB-181D-492C-FDBB-F8C98A5A41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123EAB4B-C187-2BB5-D3DB-994722C52A32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11A1CE-98D8-0AC7-FBD4-B4BD0CE9CE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E00780E-22CB-7CF0-AC57-49AC09659A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8207F9-2A8E-D672-8BEB-B93F8E186CB9}"/>
              </a:ext>
            </a:extLst>
          </p:cNvPr>
          <p:cNvSpPr txBox="1"/>
          <p:nvPr/>
        </p:nvSpPr>
        <p:spPr>
          <a:xfrm>
            <a:off x="923359" y="1290465"/>
            <a:ext cx="7272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РЕАЛИЗАЦИЯ ИНФОРМАЦИОННОЙ СИСТЕМЫ: РЕЗУЛЬТАТЫ ТЕСТА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4" name="Рисунок 3" descr="Изображение выглядит как текст, снимок экрана, Шрифт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315708-049C-A4DF-531B-EB2126768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122" y="1924777"/>
            <a:ext cx="6341526" cy="37864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33B857-5998-282C-7C53-A3A9D20945B1}"/>
              </a:ext>
            </a:extLst>
          </p:cNvPr>
          <p:cNvSpPr txBox="1"/>
          <p:nvPr/>
        </p:nvSpPr>
        <p:spPr>
          <a:xfrm>
            <a:off x="1592239" y="5953836"/>
            <a:ext cx="59367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800" b="0" i="0" u="none" strike="noStrike" baseline="0">
                <a:solidFill>
                  <a:srgbClr val="000000"/>
                </a:solidFill>
                <a:latin typeface="Aptos"/>
              </a:rPr>
              <a:t>Рисунок </a:t>
            </a:r>
            <a:r>
              <a:rPr lang="ru-RU">
                <a:solidFill>
                  <a:srgbClr val="000000"/>
                </a:solidFill>
                <a:latin typeface="Aptos"/>
              </a:rPr>
              <a:t> 7 - Результаты теста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288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75F01-5F0E-2F7D-D03E-369D3EE00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1CD66C-084A-61D5-E335-3634E2B31B57}"/>
              </a:ext>
            </a:extLst>
          </p:cNvPr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>
            <a:extLst>
              <a:ext uri="{FF2B5EF4-FFF2-40B4-BE49-F238E27FC236}">
                <a16:creationId xmlns:a16="http://schemas.microsoft.com/office/drawing/2014/main" id="{65F7F12E-EEC9-9D68-7651-3CD860AB3B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>
            <a:extLst>
              <a:ext uri="{FF2B5EF4-FFF2-40B4-BE49-F238E27FC236}">
                <a16:creationId xmlns:a16="http://schemas.microsoft.com/office/drawing/2014/main" id="{013A1FB6-6776-2844-15B9-7AEA2E25E629}"/>
              </a:ext>
            </a:extLst>
          </p:cNvPr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anose="02020603050405020304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33D1C1-A677-B08A-CDD3-9F610A8CBE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EB5B812-BC59-55CB-DBE5-B78234963E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6B4E6B-DF3F-752B-FC0E-588408C2884B}"/>
              </a:ext>
            </a:extLst>
          </p:cNvPr>
          <p:cNvSpPr txBox="1"/>
          <p:nvPr/>
        </p:nvSpPr>
        <p:spPr>
          <a:xfrm>
            <a:off x="923359" y="1290465"/>
            <a:ext cx="72728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ЗАКЛЮЧЕНИЕ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4544D18-7375-FE34-9B5F-DFD096053E5E}"/>
              </a:ext>
            </a:extLst>
          </p:cNvPr>
          <p:cNvSpPr/>
          <p:nvPr/>
        </p:nvSpPr>
        <p:spPr>
          <a:xfrm>
            <a:off x="923785" y="2664387"/>
            <a:ext cx="7272187" cy="2627898"/>
          </a:xfrm>
          <a:prstGeom prst="rect">
            <a:avLst/>
          </a:prstGeom>
          <a:solidFill>
            <a:srgbClr val="004799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384CEA9-06C9-C2C8-25C4-9F7836AC3E2C}"/>
              </a:ext>
            </a:extLst>
          </p:cNvPr>
          <p:cNvSpPr/>
          <p:nvPr/>
        </p:nvSpPr>
        <p:spPr>
          <a:xfrm>
            <a:off x="1096659" y="2850059"/>
            <a:ext cx="6853982" cy="710729"/>
          </a:xfrm>
          <a:prstGeom prst="rect">
            <a:avLst/>
          </a:prstGeom>
          <a:solidFill>
            <a:schemeClr val="bg1"/>
          </a:solidFill>
          <a:ln w="28575"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alibri"/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F0A42C-1781-84A4-4E29-9F67D861B7AE}"/>
              </a:ext>
            </a:extLst>
          </p:cNvPr>
          <p:cNvSpPr txBox="1"/>
          <p:nvPr/>
        </p:nvSpPr>
        <p:spPr>
          <a:xfrm>
            <a:off x="1241488" y="2854879"/>
            <a:ext cx="6702399" cy="608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025"/>
              </a:lnSpc>
            </a:pPr>
            <a:r>
              <a:rPr lang="ru-RU" sz="2000">
                <a:latin typeface="Calibri"/>
                <a:ea typeface="Calibri"/>
                <a:cs typeface="Calibri"/>
              </a:rPr>
              <a:t>В ходе выполнения работы были успешно выполнены все </a:t>
            </a:r>
            <a:r>
              <a:rPr lang="ru-RU" sz="2000" dirty="0">
                <a:latin typeface="Calibri"/>
                <a:ea typeface="Calibri"/>
                <a:cs typeface="Calibri"/>
              </a:rPr>
              <a:t>поставленные задачи: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34FCF00-CE4A-9999-8565-53FCF9F81F12}"/>
              </a:ext>
            </a:extLst>
          </p:cNvPr>
          <p:cNvSpPr/>
          <p:nvPr/>
        </p:nvSpPr>
        <p:spPr>
          <a:xfrm>
            <a:off x="1093812" y="3743324"/>
            <a:ext cx="6851885" cy="1324715"/>
          </a:xfrm>
          <a:prstGeom prst="rect">
            <a:avLst/>
          </a:prstGeom>
          <a:solidFill>
            <a:srgbClr val="FFFFFF"/>
          </a:solidFill>
          <a:ln>
            <a:solidFill>
              <a:srgbClr val="0047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ts val="2025"/>
              </a:lnSpc>
            </a:pPr>
            <a:r>
              <a:rPr lang="ru-R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 Изучена  предметная область.</a:t>
            </a:r>
          </a:p>
          <a:p>
            <a:pPr>
              <a:lnSpc>
                <a:spcPts val="2025"/>
              </a:lnSpc>
            </a:pPr>
            <a:r>
              <a:rPr lang="ru-R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2. Сформулированы требования к ИС.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025"/>
              </a:lnSpc>
            </a:pPr>
            <a:r>
              <a:rPr lang="ru-R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3. Спроектирована структура базы данных.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ts val="2025"/>
              </a:lnSpc>
            </a:pPr>
            <a:r>
              <a:rPr lang="ru-RU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 Разработана информационная система.</a:t>
            </a:r>
            <a:r>
              <a:rPr lang="ru-RU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0269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52049" cy="1772816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AutoShape 2" descr="Картинки по запросу юриспруденц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Содержимое 2"/>
          <p:cNvSpPr txBox="1">
            <a:spLocks/>
          </p:cNvSpPr>
          <p:nvPr/>
        </p:nvSpPr>
        <p:spPr>
          <a:xfrm>
            <a:off x="-24473" y="57149"/>
            <a:ext cx="9168473" cy="112029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1255713" indent="12700">
              <a:buClr>
                <a:srgbClr val="4F81BD"/>
              </a:buClr>
              <a:buSzPct val="80000"/>
              <a:defRPr/>
            </a:pP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itchFamily="18" charset="0"/>
              </a:rPr>
              <a:t>ФИЛИАЛ АЛТАЙСКОГО ГОСУДАРСТВЕННОГО </a:t>
            </a:r>
            <a:r>
              <a:rPr lang="en-US" sz="2400" b="1" dirty="0">
                <a:solidFill>
                  <a:srgbClr val="004799"/>
                </a:solidFill>
                <a:latin typeface="+mj-lt"/>
                <a:cs typeface="Times New Roman" pitchFamily="18" charset="0"/>
              </a:rPr>
              <a:t>                      	         </a:t>
            </a:r>
            <a:r>
              <a:rPr lang="ru-RU" sz="2400" b="1" dirty="0">
                <a:solidFill>
                  <a:srgbClr val="004799"/>
                </a:solidFill>
                <a:latin typeface="+mj-lt"/>
                <a:cs typeface="Times New Roman" pitchFamily="18" charset="0"/>
              </a:rPr>
              <a:t>УНИВЕРСИТЕТА В Г. БИЙСКЕ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2D29C0-4406-68A3-F5D4-C9C0C80F0B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19"/>
          <a:stretch/>
        </p:blipFill>
        <p:spPr>
          <a:xfrm>
            <a:off x="107504" y="116632"/>
            <a:ext cx="1342161" cy="97654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D4CF73-8BF0-49D9-9A41-1657E0F1D4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745" y="129024"/>
            <a:ext cx="998910" cy="976546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D52A05A-BAB5-4A32-995F-F753F9FC9143}"/>
              </a:ext>
            </a:extLst>
          </p:cNvPr>
          <p:cNvSpPr/>
          <p:nvPr/>
        </p:nvSpPr>
        <p:spPr>
          <a:xfrm>
            <a:off x="-24473" y="6286940"/>
            <a:ext cx="9176522" cy="571060"/>
          </a:xfrm>
          <a:prstGeom prst="rect">
            <a:avLst/>
          </a:prstGeom>
          <a:solidFill>
            <a:srgbClr val="004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46134A-F5EA-46C3-9AC4-CBB57E7C6604}"/>
              </a:ext>
            </a:extLst>
          </p:cNvPr>
          <p:cNvSpPr txBox="1"/>
          <p:nvPr/>
        </p:nvSpPr>
        <p:spPr>
          <a:xfrm>
            <a:off x="-110752" y="3183940"/>
            <a:ext cx="8568952" cy="10858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3" algn="ctr">
              <a:lnSpc>
                <a:spcPct val="150000"/>
              </a:lnSpc>
            </a:pPr>
            <a:r>
              <a:rPr lang="ru-RU" sz="4800" dirty="0">
                <a:effectLst/>
                <a:latin typeface="Calibri"/>
                <a:ea typeface="Calibri"/>
                <a:cs typeface="Calibri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6836560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457</Words>
  <Application>Microsoft Office PowerPoint</Application>
  <PresentationFormat>Экран (4:3)</PresentationFormat>
  <Paragraphs>64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Учитель</cp:lastModifiedBy>
  <cp:revision>811</cp:revision>
  <dcterms:created xsi:type="dcterms:W3CDTF">2026-05-17T09:55:19Z</dcterms:created>
  <dcterms:modified xsi:type="dcterms:W3CDTF">2026-05-30T13:39:02Z</dcterms:modified>
</cp:coreProperties>
</file>